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x="18288000" cy="10287000"/>
  <p:notesSz cx="6858000" cy="9144000"/>
  <p:embeddedFontLst>
    <p:embeddedFont>
      <p:font typeface="Open Sans Bold" charset="1" panose="020B0806030504020204"/>
      <p:regular r:id="rId79"/>
    </p:embeddedFont>
    <p:embeddedFont>
      <p:font typeface="Open Sans" charset="1" panose="020B0606030504020204"/>
      <p:regular r:id="rId80"/>
    </p:embeddedFont>
    <p:embeddedFont>
      <p:font typeface="Open Sans Italics" charset="1" panose="020B0606030504020204"/>
      <p:regular r:id="rId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fonts/font80.fntdata" Type="http://schemas.openxmlformats.org/officeDocument/2006/relationships/font"/><Relationship Id="rId81" Target="fonts/font81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648885" y="3615220"/>
            <a:ext cx="10971179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853259"/>
            <a:ext cx="11959452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Falla (failure):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Ocurre cuando el software se comporta de forma inesperada.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Defecto (fault):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existe en el código, encontrarlo puede llevar a causar una falla.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Error (error,mistake):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acción incorrecta de la acción humana, esto puede incluir un defecto que conlleve a una falla.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2720346"/>
            <a:ext cx="11959452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exitoso = descubre defectos.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consiste en demostrar que el software funciona, sino en encontrar problemas.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buen resultado es identificar comportamientos inesperados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vez que se corrigen defectos detectados, se pueden introducir nuevos defectos.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es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un Test Exitoso?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2919518"/>
            <a:ext cx="11959452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Detectar defectos antes de la entrega.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Validar que el software cumple requisitos y expectativas.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Aumentar la calidad y confiabilidad.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Prevenir futuras fallas y costos.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Propósito del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Testing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2919518"/>
            <a:ext cx="11959452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Demostrar que no hay errores.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Demostrar que el software funciona correctamente y cumple sus funciones.</a:t>
            </a:r>
          </a:p>
          <a:p>
            <a:pPr algn="l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Testing es un proceso destructivo que trata de encontrar posibles defectos en el software.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NO es el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Testing?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332375" y="2787021"/>
            <a:ext cx="7623249" cy="5757499"/>
          </a:xfrm>
          <a:custGeom>
            <a:avLst/>
            <a:gdLst/>
            <a:ahLst/>
            <a:cxnLst/>
            <a:rect r="r" b="b" t="t" l="l"/>
            <a:pathLst>
              <a:path h="5757499" w="7623249">
                <a:moveTo>
                  <a:pt x="0" y="0"/>
                </a:moveTo>
                <a:lnTo>
                  <a:pt x="7623250" y="0"/>
                </a:lnTo>
                <a:lnTo>
                  <a:pt x="7623250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Principios de Pruebas de Software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Aspectos Económicos del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4675035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 posible encontrar todos los defectos en un software/programa?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Aspectos Económicos del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Invertir en testing = ahorro significativo a largo plazo.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Corregir defectos en f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ases tardías puede multiplicar los costos ×10 o más.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Testing bien planeado optimiza el retorno de inversión (ROI).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Priorizar pruebas en módulos críticos maximiza beneficios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154749" y="2862707"/>
            <a:ext cx="11959452" cy="5186121"/>
          </a:xfrm>
          <a:custGeom>
            <a:avLst/>
            <a:gdLst/>
            <a:ahLst/>
            <a:cxnLst/>
            <a:rect r="r" b="b" t="t" l="l"/>
            <a:pathLst>
              <a:path h="5186121" w="11959452">
                <a:moveTo>
                  <a:pt x="0" y="0"/>
                </a:moveTo>
                <a:lnTo>
                  <a:pt x="11959452" y="0"/>
                </a:lnTo>
                <a:lnTo>
                  <a:pt x="11959452" y="5186120"/>
                </a:lnTo>
                <a:lnTo>
                  <a:pt x="0" y="518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vs. Debugging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642052" y="3384598"/>
            <a:ext cx="2479610" cy="1239805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Casos de Prueba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998323" y="2865501"/>
            <a:ext cx="2272304" cy="2277999"/>
          </a:xfrm>
          <a:custGeom>
            <a:avLst/>
            <a:gdLst/>
            <a:ahLst/>
            <a:cxnLst/>
            <a:rect r="r" b="b" t="t" l="l"/>
            <a:pathLst>
              <a:path h="2277999" w="2272304">
                <a:moveTo>
                  <a:pt x="0" y="0"/>
                </a:moveTo>
                <a:lnTo>
                  <a:pt x="2272304" y="0"/>
                </a:lnTo>
                <a:lnTo>
                  <a:pt x="2272304" y="2277999"/>
                </a:lnTo>
                <a:lnTo>
                  <a:pt x="0" y="2277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937627" y="4879975"/>
            <a:ext cx="1255023" cy="1348401"/>
            <a:chOff x="0" y="0"/>
            <a:chExt cx="413718" cy="444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718" cy="481613"/>
            </a:xfrm>
            <a:custGeom>
              <a:avLst/>
              <a:gdLst/>
              <a:ahLst/>
              <a:cxnLst/>
              <a:rect r="r" b="b" t="t" l="l"/>
              <a:pathLst>
                <a:path h="481613" w="413718">
                  <a:moveTo>
                    <a:pt x="295644" y="0"/>
                  </a:moveTo>
                  <a:lnTo>
                    <a:pt x="118074" y="0"/>
                  </a:lnTo>
                  <a:cubicBezTo>
                    <a:pt x="52863" y="0"/>
                    <a:pt x="0" y="52863"/>
                    <a:pt x="0" y="118074"/>
                  </a:cubicBezTo>
                  <a:lnTo>
                    <a:pt x="0" y="398743"/>
                  </a:lnTo>
                  <a:cubicBezTo>
                    <a:pt x="22006" y="433272"/>
                    <a:pt x="92426" y="481613"/>
                    <a:pt x="198056" y="398743"/>
                  </a:cubicBezTo>
                  <a:cubicBezTo>
                    <a:pt x="303687" y="315872"/>
                    <a:pt x="385844" y="364213"/>
                    <a:pt x="413718" y="398743"/>
                  </a:cubicBezTo>
                  <a:lnTo>
                    <a:pt x="413718" y="118074"/>
                  </a:lnTo>
                  <a:cubicBezTo>
                    <a:pt x="413718" y="86759"/>
                    <a:pt x="401278" y="56726"/>
                    <a:pt x="379135" y="34583"/>
                  </a:cubicBezTo>
                  <a:cubicBezTo>
                    <a:pt x="356992" y="12440"/>
                    <a:pt x="326959" y="0"/>
                    <a:pt x="295644" y="0"/>
                  </a:cubicBezTo>
                  <a:close/>
                </a:path>
              </a:pathLst>
            </a:custGeom>
            <a:solidFill>
              <a:srgbClr val="81818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13718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121661" y="4004500"/>
            <a:ext cx="28766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>
            <a:off x="10545738" y="4004500"/>
            <a:ext cx="3080096" cy="7732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3090027" y="5032375"/>
            <a:ext cx="1255023" cy="1348401"/>
            <a:chOff x="0" y="0"/>
            <a:chExt cx="413718" cy="44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3718" cy="481613"/>
            </a:xfrm>
            <a:custGeom>
              <a:avLst/>
              <a:gdLst/>
              <a:ahLst/>
              <a:cxnLst/>
              <a:rect r="r" b="b" t="t" l="l"/>
              <a:pathLst>
                <a:path h="481613" w="413718">
                  <a:moveTo>
                    <a:pt x="295644" y="0"/>
                  </a:moveTo>
                  <a:lnTo>
                    <a:pt x="118074" y="0"/>
                  </a:lnTo>
                  <a:cubicBezTo>
                    <a:pt x="52863" y="0"/>
                    <a:pt x="0" y="52863"/>
                    <a:pt x="0" y="118074"/>
                  </a:cubicBezTo>
                  <a:lnTo>
                    <a:pt x="0" y="398743"/>
                  </a:lnTo>
                  <a:cubicBezTo>
                    <a:pt x="22006" y="433272"/>
                    <a:pt x="92426" y="481613"/>
                    <a:pt x="198056" y="398743"/>
                  </a:cubicBezTo>
                  <a:cubicBezTo>
                    <a:pt x="303687" y="315872"/>
                    <a:pt x="385844" y="364213"/>
                    <a:pt x="413718" y="398743"/>
                  </a:cubicBezTo>
                  <a:lnTo>
                    <a:pt x="413718" y="118074"/>
                  </a:lnTo>
                  <a:cubicBezTo>
                    <a:pt x="413718" y="86759"/>
                    <a:pt x="401278" y="56726"/>
                    <a:pt x="379135" y="34583"/>
                  </a:cubicBezTo>
                  <a:cubicBezTo>
                    <a:pt x="356992" y="12440"/>
                    <a:pt x="326959" y="0"/>
                    <a:pt x="295644" y="0"/>
                  </a:cubicBezTo>
                  <a:close/>
                </a:path>
              </a:pathLst>
            </a:custGeom>
            <a:solidFill>
              <a:srgbClr val="8181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13718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42427" y="5184775"/>
            <a:ext cx="1255023" cy="1348401"/>
            <a:chOff x="0" y="0"/>
            <a:chExt cx="413718" cy="444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3718" cy="481613"/>
            </a:xfrm>
            <a:custGeom>
              <a:avLst/>
              <a:gdLst/>
              <a:ahLst/>
              <a:cxnLst/>
              <a:rect r="r" b="b" t="t" l="l"/>
              <a:pathLst>
                <a:path h="481613" w="413718">
                  <a:moveTo>
                    <a:pt x="295644" y="0"/>
                  </a:moveTo>
                  <a:lnTo>
                    <a:pt x="118074" y="0"/>
                  </a:lnTo>
                  <a:cubicBezTo>
                    <a:pt x="52863" y="0"/>
                    <a:pt x="0" y="52863"/>
                    <a:pt x="0" y="118074"/>
                  </a:cubicBezTo>
                  <a:lnTo>
                    <a:pt x="0" y="398743"/>
                  </a:lnTo>
                  <a:cubicBezTo>
                    <a:pt x="22006" y="433272"/>
                    <a:pt x="92426" y="481613"/>
                    <a:pt x="198056" y="398743"/>
                  </a:cubicBezTo>
                  <a:cubicBezTo>
                    <a:pt x="303687" y="315872"/>
                    <a:pt x="385844" y="364213"/>
                    <a:pt x="413718" y="398743"/>
                  </a:cubicBezTo>
                  <a:lnTo>
                    <a:pt x="413718" y="118074"/>
                  </a:lnTo>
                  <a:cubicBezTo>
                    <a:pt x="413718" y="86759"/>
                    <a:pt x="401278" y="56726"/>
                    <a:pt x="379135" y="34583"/>
                  </a:cubicBezTo>
                  <a:cubicBezTo>
                    <a:pt x="356992" y="12440"/>
                    <a:pt x="326959" y="0"/>
                    <a:pt x="295644" y="0"/>
                  </a:cubicBezTo>
                  <a:close/>
                </a:path>
              </a:pathLst>
            </a:custGeom>
            <a:solidFill>
              <a:srgbClr val="81818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3718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94827" y="5337175"/>
            <a:ext cx="1255023" cy="1348401"/>
            <a:chOff x="0" y="0"/>
            <a:chExt cx="413718" cy="444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718" cy="481613"/>
            </a:xfrm>
            <a:custGeom>
              <a:avLst/>
              <a:gdLst/>
              <a:ahLst/>
              <a:cxnLst/>
              <a:rect r="r" b="b" t="t" l="l"/>
              <a:pathLst>
                <a:path h="481613" w="413718">
                  <a:moveTo>
                    <a:pt x="295644" y="0"/>
                  </a:moveTo>
                  <a:lnTo>
                    <a:pt x="118074" y="0"/>
                  </a:lnTo>
                  <a:cubicBezTo>
                    <a:pt x="52863" y="0"/>
                    <a:pt x="0" y="52863"/>
                    <a:pt x="0" y="118074"/>
                  </a:cubicBezTo>
                  <a:lnTo>
                    <a:pt x="0" y="398743"/>
                  </a:lnTo>
                  <a:cubicBezTo>
                    <a:pt x="22006" y="433272"/>
                    <a:pt x="92426" y="481613"/>
                    <a:pt x="198056" y="398743"/>
                  </a:cubicBezTo>
                  <a:cubicBezTo>
                    <a:pt x="303687" y="315872"/>
                    <a:pt x="385844" y="364213"/>
                    <a:pt x="413718" y="398743"/>
                  </a:cubicBezTo>
                  <a:lnTo>
                    <a:pt x="413718" y="118074"/>
                  </a:lnTo>
                  <a:cubicBezTo>
                    <a:pt x="413718" y="86759"/>
                    <a:pt x="401278" y="56726"/>
                    <a:pt x="379135" y="34583"/>
                  </a:cubicBezTo>
                  <a:cubicBezTo>
                    <a:pt x="356992" y="12440"/>
                    <a:pt x="326959" y="0"/>
                    <a:pt x="295644" y="0"/>
                  </a:cubicBezTo>
                  <a:close/>
                </a:path>
              </a:pathLst>
            </a:custGeom>
            <a:solidFill>
              <a:srgbClr val="8181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13718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80823" y="7236120"/>
            <a:ext cx="2352322" cy="940625"/>
            <a:chOff x="0" y="0"/>
            <a:chExt cx="484017" cy="1935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4017" cy="193544"/>
            </a:xfrm>
            <a:custGeom>
              <a:avLst/>
              <a:gdLst/>
              <a:ahLst/>
              <a:cxnLst/>
              <a:rect r="r" b="b" t="t" l="l"/>
              <a:pathLst>
                <a:path h="193544" w="484017">
                  <a:moveTo>
                    <a:pt x="64281" y="0"/>
                  </a:moveTo>
                  <a:lnTo>
                    <a:pt x="419736" y="0"/>
                  </a:lnTo>
                  <a:cubicBezTo>
                    <a:pt x="436784" y="0"/>
                    <a:pt x="453134" y="6772"/>
                    <a:pt x="465189" y="18827"/>
                  </a:cubicBezTo>
                  <a:cubicBezTo>
                    <a:pt x="477245" y="30882"/>
                    <a:pt x="484017" y="47233"/>
                    <a:pt x="484017" y="64281"/>
                  </a:cubicBezTo>
                  <a:lnTo>
                    <a:pt x="484017" y="129263"/>
                  </a:lnTo>
                  <a:cubicBezTo>
                    <a:pt x="484017" y="146312"/>
                    <a:pt x="477245" y="162662"/>
                    <a:pt x="465189" y="174717"/>
                  </a:cubicBezTo>
                  <a:cubicBezTo>
                    <a:pt x="453134" y="186772"/>
                    <a:pt x="436784" y="193544"/>
                    <a:pt x="419736" y="193544"/>
                  </a:cubicBezTo>
                  <a:lnTo>
                    <a:pt x="64281" y="193544"/>
                  </a:lnTo>
                  <a:cubicBezTo>
                    <a:pt x="47233" y="193544"/>
                    <a:pt x="30882" y="186772"/>
                    <a:pt x="18827" y="174717"/>
                  </a:cubicBezTo>
                  <a:cubicBezTo>
                    <a:pt x="6772" y="162662"/>
                    <a:pt x="0" y="146312"/>
                    <a:pt x="0" y="129263"/>
                  </a:cubicBezTo>
                  <a:lnTo>
                    <a:pt x="0" y="64281"/>
                  </a:lnTo>
                  <a:cubicBezTo>
                    <a:pt x="0" y="47233"/>
                    <a:pt x="6772" y="30882"/>
                    <a:pt x="18827" y="18827"/>
                  </a:cubicBezTo>
                  <a:cubicBezTo>
                    <a:pt x="30882" y="6772"/>
                    <a:pt x="47233" y="0"/>
                    <a:pt x="64281" y="0"/>
                  </a:cubicBezTo>
                  <a:close/>
                </a:path>
              </a:pathLst>
            </a:custGeom>
            <a:solidFill>
              <a:srgbClr val="81818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4017" cy="231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Depuracion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Debugging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42262" y="4848542"/>
            <a:ext cx="2803475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Ejecucion de casos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79711" y="6799876"/>
            <a:ext cx="1675656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AutoShape 34" id="34"/>
          <p:cNvSpPr/>
          <p:nvPr/>
        </p:nvSpPr>
        <p:spPr>
          <a:xfrm flipH="true">
            <a:off x="12333145" y="7196115"/>
            <a:ext cx="1384393" cy="5103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6389583" y="7279713"/>
            <a:ext cx="208998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Causas Identificadas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98400" y="7489263"/>
            <a:ext cx="196691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Correcciones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21411" y="5649163"/>
            <a:ext cx="1920892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Regresión</a:t>
            </a:r>
          </a:p>
        </p:txBody>
      </p:sp>
      <p:sp>
        <p:nvSpPr>
          <p:cNvPr name="AutoShape 38" id="38"/>
          <p:cNvSpPr/>
          <p:nvPr/>
        </p:nvSpPr>
        <p:spPr>
          <a:xfrm flipH="true" flipV="true">
            <a:off x="8602278" y="7731715"/>
            <a:ext cx="1243783" cy="413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 flipV="true">
            <a:off x="4865313" y="7706433"/>
            <a:ext cx="15242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V="true">
            <a:off x="3881857" y="6464503"/>
            <a:ext cx="0" cy="10628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flipV="true">
            <a:off x="3752034" y="4624403"/>
            <a:ext cx="150519" cy="10821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2" id="42"/>
          <p:cNvSpPr txBox="true"/>
          <p:nvPr/>
        </p:nvSpPr>
        <p:spPr>
          <a:xfrm rot="0">
            <a:off x="6389583" y="6022636"/>
            <a:ext cx="208998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Causas Sospechadas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904624" y="4915850"/>
            <a:ext cx="208998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Causas Adicinales</a:t>
            </a:r>
          </a:p>
        </p:txBody>
      </p:sp>
      <p:sp>
        <p:nvSpPr>
          <p:cNvPr name="AutoShape 44" id="44"/>
          <p:cNvSpPr/>
          <p:nvPr/>
        </p:nvSpPr>
        <p:spPr>
          <a:xfrm flipH="true" flipV="true">
            <a:off x="8303123" y="6449356"/>
            <a:ext cx="1677700" cy="1257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6994605" y="5342570"/>
            <a:ext cx="439968" cy="7181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4926857" y="4422525"/>
            <a:ext cx="891524" cy="4171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Case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buen Test Case es aquel que tiene un alto % de encontrar un defecto.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demostrar que el software/programa funciona correctamente.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debe ser redundante, ni muy simple, ni complejo, solo debe ser el 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 de su clase.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Diseñarlos es un gran desafío.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Incluye: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datos de entrada, pasos a seguir, resultados esperados y criterios de aceptación.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de Test Case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Identificar requisitos y funcionalidades clave.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Crear casos tanto positivos (flujos esperados) como negativos (err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epcion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s)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Usar técnicas: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Caja negra.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aja b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r,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 y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zar los cas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de p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rueb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White-Box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realizan a nivel de componentes.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Normalmente guiadas por los requerimientos y las especificaciones técnicas.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 un procedimiento que verifica la lógica y la estructura interna del código de un programa, analizando: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Rutas.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ondiciones.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ucles.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ualquier control de flujo posible dentro del mismo.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White-Box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4374997"/>
            <a:ext cx="1251071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solo validar que el software funciona según se espera, sino también asegurar que cada camino/tramo/ruta del código este cubierto por al menos una prueba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White-Box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 la estructura de control procedural, para derivar casos de prueba que: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Garanticen que todas las rutas de un modulo se ejercitaron por lo menos una vez.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Ejerciten todas las decisiones lógicas en sus lados True y False.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Ejecuten todos los loops en sus valores frontera y dentro de sus limites operacionales.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Garantizar que todas las rutas lógicas del código han sido ejecutadas y verificadas, asegurando así un mínimo de defectos a nivel estructural e implementacional.</a:t>
            </a:r>
          </a:p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Completa del Có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digo.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Detección de Errores Lógicos.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Validación de Estructuras de Control.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Optimización y Mejora del Código.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Prevención de Vulnerabilidades.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Automatización y Medición.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Razones para utilizarlo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599270"/>
            <a:ext cx="12510711" cy="615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Detección Profund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de Defectos.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 errores que no son perceptibles desde una perspectiva externa.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Garantía de Cobertura Alta.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 métricas precisas sobre el grado de cobertura del código.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 Comprensión del Código.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tester debe entender la implementación.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Prevención de Código Inutilizado.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Ayuda a descubrir secciones de código no ejecutadas que pueden ser eliminadas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 la Refactorización.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revela oportunidades para mejorar algoritmos, lógica, etc.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Desventajas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500948"/>
            <a:ext cx="12510711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Alto Coste y Complejidad.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requiere comprender el código y su lógica, por ende se necesitan testers con perfiles especializados.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Escalabilidad y Tiempo.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casi inviable cubrir todas las rutas en proyectos grandes.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Mantenimiento de Pruebas.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Cambio de código → Actualización de pruebas.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Ceguera Funcional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Riesgo de descuidar defectos de integración o de interacción con otros sistemas.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Incompleta de Requisitos.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estructural total != Total Especificaciones Func. del sistema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Técnicas Utilizadas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091821"/>
            <a:ext cx="1251071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Sentencias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Decisiones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obertura de Ramas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Caminos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Condiciones y Condiciones Múltiples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Bucles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 Flujo de Datos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 Mutación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13159" y="4681861"/>
            <a:ext cx="8019258" cy="3809147"/>
          </a:xfrm>
          <a:custGeom>
            <a:avLst/>
            <a:gdLst/>
            <a:ahLst/>
            <a:cxnLst/>
            <a:rect r="r" b="b" t="t" l="l"/>
            <a:pathLst>
              <a:path h="3809147" w="8019258">
                <a:moveTo>
                  <a:pt x="0" y="0"/>
                </a:moveTo>
                <a:lnTo>
                  <a:pt x="8019257" y="0"/>
                </a:lnTo>
                <a:lnTo>
                  <a:pt x="8019257" y="3809147"/>
                </a:lnTo>
                <a:lnTo>
                  <a:pt x="0" y="380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Sentencias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Ejecutar todas las líneas (sentencias) del código al menos una vez.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86828" y="5249283"/>
            <a:ext cx="8914345" cy="2674303"/>
          </a:xfrm>
          <a:custGeom>
            <a:avLst/>
            <a:gdLst/>
            <a:ahLst/>
            <a:cxnLst/>
            <a:rect r="r" b="b" t="t" l="l"/>
            <a:pathLst>
              <a:path h="2674303" w="8914345">
                <a:moveTo>
                  <a:pt x="0" y="0"/>
                </a:moveTo>
                <a:lnTo>
                  <a:pt x="8914344" y="0"/>
                </a:lnTo>
                <a:lnTo>
                  <a:pt x="8914344" y="2674303"/>
                </a:lnTo>
                <a:lnTo>
                  <a:pt x="0" y="2674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Decisiones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Ejecutar cada resultado posible (verdadero/falso) de todas las construcciones de decisión.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685656" y="4572382"/>
            <a:ext cx="6897639" cy="4051976"/>
          </a:xfrm>
          <a:custGeom>
            <a:avLst/>
            <a:gdLst/>
            <a:ahLst/>
            <a:cxnLst/>
            <a:rect r="r" b="b" t="t" l="l"/>
            <a:pathLst>
              <a:path h="4051976" w="6897639">
                <a:moveTo>
                  <a:pt x="0" y="0"/>
                </a:moveTo>
                <a:lnTo>
                  <a:pt x="6897638" y="0"/>
                </a:lnTo>
                <a:lnTo>
                  <a:pt x="6897638" y="4051976"/>
                </a:lnTo>
                <a:lnTo>
                  <a:pt x="0" y="4051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Ramas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Ejecutar todos los posibles ramales de los bloques condicionales y de control de flujo.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79703" y="4821335"/>
            <a:ext cx="8109544" cy="3479173"/>
          </a:xfrm>
          <a:custGeom>
            <a:avLst/>
            <a:gdLst/>
            <a:ahLst/>
            <a:cxnLst/>
            <a:rect r="r" b="b" t="t" l="l"/>
            <a:pathLst>
              <a:path h="3479173" w="8109544">
                <a:moveTo>
                  <a:pt x="0" y="0"/>
                </a:moveTo>
                <a:lnTo>
                  <a:pt x="8109544" y="0"/>
                </a:lnTo>
                <a:lnTo>
                  <a:pt x="8109544" y="3479173"/>
                </a:lnTo>
                <a:lnTo>
                  <a:pt x="0" y="3479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Caminos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758789" y="5143500"/>
            <a:ext cx="4647001" cy="2596653"/>
          </a:xfrm>
          <a:custGeom>
            <a:avLst/>
            <a:gdLst/>
            <a:ahLst/>
            <a:cxnLst/>
            <a:rect r="r" b="b" t="t" l="l"/>
            <a:pathLst>
              <a:path h="2596653" w="4647001">
                <a:moveTo>
                  <a:pt x="0" y="0"/>
                </a:moveTo>
                <a:lnTo>
                  <a:pt x="4647000" y="0"/>
                </a:lnTo>
                <a:lnTo>
                  <a:pt x="4647000" y="2596653"/>
                </a:lnTo>
                <a:lnTo>
                  <a:pt x="0" y="2596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740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2039" y="5143500"/>
            <a:ext cx="7588944" cy="2543268"/>
          </a:xfrm>
          <a:custGeom>
            <a:avLst/>
            <a:gdLst/>
            <a:ahLst/>
            <a:cxnLst/>
            <a:rect r="r" b="b" t="t" l="l"/>
            <a:pathLst>
              <a:path h="2543268" w="7588944">
                <a:moveTo>
                  <a:pt x="0" y="0"/>
                </a:moveTo>
                <a:lnTo>
                  <a:pt x="7588945" y="0"/>
                </a:lnTo>
                <a:lnTo>
                  <a:pt x="7588945" y="2543268"/>
                </a:lnTo>
                <a:lnTo>
                  <a:pt x="0" y="254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82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Condiciones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Evaluar todas las condiciones booleanas para los valores verdadero y falso.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547013" y="5143500"/>
            <a:ext cx="9174923" cy="1970909"/>
          </a:xfrm>
          <a:custGeom>
            <a:avLst/>
            <a:gdLst/>
            <a:ahLst/>
            <a:cxnLst/>
            <a:rect r="r" b="b" t="t" l="l"/>
            <a:pathLst>
              <a:path h="1970909" w="9174923">
                <a:moveTo>
                  <a:pt x="0" y="0"/>
                </a:moveTo>
                <a:lnTo>
                  <a:pt x="9174924" y="0"/>
                </a:lnTo>
                <a:lnTo>
                  <a:pt x="9174924" y="1970909"/>
                </a:lnTo>
                <a:lnTo>
                  <a:pt x="0" y="1970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de Bucles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Cubrir todas las combinaciones posibles de condiciones dentro de las decisiones compuestas.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251983" y="4738136"/>
            <a:ext cx="3764984" cy="2569048"/>
          </a:xfrm>
          <a:custGeom>
            <a:avLst/>
            <a:gdLst/>
            <a:ahLst/>
            <a:cxnLst/>
            <a:rect r="r" b="b" t="t" l="l"/>
            <a:pathLst>
              <a:path h="2569048" w="3764984">
                <a:moveTo>
                  <a:pt x="0" y="0"/>
                </a:moveTo>
                <a:lnTo>
                  <a:pt x="3764984" y="0"/>
                </a:lnTo>
                <a:lnTo>
                  <a:pt x="3764984" y="2569048"/>
                </a:lnTo>
                <a:lnTo>
                  <a:pt x="0" y="256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Flujo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Probar entradas que ejecuten bucles cero veces, una vez y múltiples veces.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567902" y="4615186"/>
            <a:ext cx="3133146" cy="3299803"/>
          </a:xfrm>
          <a:custGeom>
            <a:avLst/>
            <a:gdLst/>
            <a:ahLst/>
            <a:cxnLst/>
            <a:rect r="r" b="b" t="t" l="l"/>
            <a:pathLst>
              <a:path h="3299803" w="3133146">
                <a:moveTo>
                  <a:pt x="0" y="0"/>
                </a:moveTo>
                <a:lnTo>
                  <a:pt x="3133146" y="0"/>
                </a:lnTo>
                <a:lnTo>
                  <a:pt x="3133146" y="3299803"/>
                </a:lnTo>
                <a:lnTo>
                  <a:pt x="0" y="3299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Mutación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9120" y="3091821"/>
            <a:ext cx="1251071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Introducir cambios ("mutantes") en el código para verificar si las pruebas existentes detectan el error simulado.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091821"/>
            <a:ext cx="12510711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herramientas sirven para automatizar y medir la cobertura de las pruebas de caja blanca.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Comunes en python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Hypothesis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pytest-cov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Pyre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Coverage.py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0692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White-Box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Métricas de cobertura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091821"/>
            <a:ext cx="1251071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Porcentaje de sentencias cubiertas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Porcentaje de ramas y caminos cubi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diciones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decisiones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bucles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Black-Box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Generalmente se dan a nivel de sistema y nivel de aceptación.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funcionales.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Pruebas⁢ de regresión.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de⁣ aceptación del usuario.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etc...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están limitadas a mandar datos y recibir resultados, sino también a la configuración de distintas ambientes que determinan la funcionalidad del software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42994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Black-Box - Técnicas comunes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2787021"/>
            <a:ext cx="12510711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Particionamiento de equivalencias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de valores frontera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Adivinanza de defectos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Diagramas de causa-efecto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 transición de estado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Matriz de grafos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Particionamiento de equivalencias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Consiste en dividir los datos de entrada en grupos o clases do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nde se espera que el sistema se comporte de manera similar para todos los valores dentro de cada clase. Se selecciona un valor representativo de cada clase para las pruebas.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de valores frontera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Complementa el particionamiento de equivalencias,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pero se enfoca en probar específicamente los valores en los límites de cada clase, donde suelen ocurrir más errores.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Adivinanza de defectos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Técnica basada en la experiencia del probador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predecir dónde podrían ocurrir errores, utilizando conocimiento de errores comunes y problemas encontrados en el pasado.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Diagramas de causa-efecto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Técnica que representa gráficamente la relación entre las condiciones de entrada (causas) y los resultado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esperados (efectos), utilizando operadores lógicos como AND, OR y NOT para determinar casos de prueba mínimos con máxima cobertura.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transición de estado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Técnica utilizada cua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ndo el sistema puede estar en diferentes estados y las transiciones entre estos estados están gobernadas por reglas específicas. Se prueban las secuencias de eventos que provocan cambios de estado.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Black-Box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Matriz de grafos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932085"/>
            <a:ext cx="1251071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Representación tabular de las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relaciones entre diferentes componentes o estados del sistema, utilizada para identificar y probar todas las posibles interacciones.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de Casos de Prueba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120" y="3091821"/>
            <a:ext cx="12510711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se debe descartar White-box por ser impráctico en grandes proyectos. Deben seleccionarse con cuidado los caminos lógicos importantes que se van a ejecutar.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puede combinar Black-Box y White-Box para proveer un enfoque que valide la interfaz y a la vez asegurarse de que los aspectos internos son correctos.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656271" y="5254113"/>
            <a:ext cx="7901884" cy="3480858"/>
          </a:xfrm>
          <a:custGeom>
            <a:avLst/>
            <a:gdLst/>
            <a:ahLst/>
            <a:cxnLst/>
            <a:rect r="r" b="b" t="t" l="l"/>
            <a:pathLst>
              <a:path h="3480858" w="7901884">
                <a:moveTo>
                  <a:pt x="0" y="0"/>
                </a:moveTo>
                <a:lnTo>
                  <a:pt x="7901884" y="0"/>
                </a:lnTo>
                <a:lnTo>
                  <a:pt x="7901884" y="3480859"/>
                </a:lnTo>
                <a:lnTo>
                  <a:pt x="0" y="3480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Estrategias de Prueba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8645" y="2720346"/>
            <a:ext cx="1251071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creamos un software, comenzamos con la ingeniería del sistema, los requerimientos, etc.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Ósea que comenzamos desde afuera.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realzamos las pruebas, tenemos que ir de dentro hacia afuera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88645" y="2729871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 inicio se deben ejecutar pruebas de White-Box de forma individual para cada modulo, asegurando que cada uno de estos funcione adecuadamente como una unidad.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Luego, los módulos deben integrarse para así formar el software completo, aquí entran las técnicas de Black-Box.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finalizar, corresponde realizar pruebas que aseguren que el software satisface los requerimientos de uso, funcionales, de comportamiento y de desempeño y verificar que todos los elementos del sistema se acoplan adecuadamente.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Estrategias de Prueba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943924" y="3158496"/>
            <a:ext cx="8381101" cy="5300301"/>
          </a:xfrm>
          <a:custGeom>
            <a:avLst/>
            <a:gdLst/>
            <a:ahLst/>
            <a:cxnLst/>
            <a:rect r="r" b="b" t="t" l="l"/>
            <a:pathLst>
              <a:path h="5300301" w="8381101">
                <a:moveTo>
                  <a:pt x="0" y="0"/>
                </a:moveTo>
                <a:lnTo>
                  <a:pt x="8381102" y="0"/>
                </a:lnTo>
                <a:lnTo>
                  <a:pt x="8381102" y="5300301"/>
                </a:lnTo>
                <a:lnTo>
                  <a:pt x="0" y="5300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Estrategias de Prueba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9256" y="3665262"/>
            <a:ext cx="2339950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</a:t>
            </a:r>
            <a:r>
              <a:rPr lang="en-US" sz="2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caja Negra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4551" y="7026992"/>
            <a:ext cx="2339950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</a:t>
            </a:r>
            <a:r>
              <a:rPr lang="en-US" sz="2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caja Blanca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23912" y="5055082"/>
            <a:ext cx="3250589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</a:t>
            </a:r>
            <a:r>
              <a:rPr lang="en-US" sz="2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caja Negra 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algunas de </a:t>
            </a:r>
            <a:r>
              <a:rPr lang="en-US" sz="2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caja Blanca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43924" y="3693202"/>
            <a:ext cx="233995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Requisitos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5176" y="4713606"/>
            <a:ext cx="233995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8172" y="6567151"/>
            <a:ext cx="2339950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Codificación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91205" y="8420697"/>
            <a:ext cx="3288065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“Direccion” de la prueba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88645" y="2729871"/>
            <a:ext cx="12510711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Definir los requisitos del producto de man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era medible antes de iniciar las pruebas.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Dejar claros los objetivos de las pruebas.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Conocer a los usuarios y crear perfiles de cada tipo.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Hacer un plan que favorezca pruebas rápidas y continuas.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Diseñar un software que pueda comprobarse a sí mismo.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revisiones técnicas previas al testing.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Revisar también la estrategia de pruebas y los casos definidos.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Adoptar un enfoque de mejora continua en el proceso de pruebas.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Estrategias de Prueba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52846"/>
            <a:ext cx="12510711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de requerimientos y funcionalidades debe realizarse con Black-Box Testing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Cobertura Lógica debe emplear White-Box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Siempre deben realizarse pruebas que sean repetibles y definir resultados obtenidos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Estrategias de Prueba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400754"/>
            <a:ext cx="1251071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 procesos orientados a identificar si nuevos cambios en el código han introducido errores en funcionalidades que previamente eran estables.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aplican tanto tras correcciones de bugs como después de inclu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vas caract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rísticas.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tan 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servar la 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rda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 val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Estas pruebas deben diseñarse de tal manera de incluir solo pruebas de clases de errores de las funciones principales.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usan principalmente herramientas automatizadas de captura y ejecución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452730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Regresión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303117"/>
            <a:ext cx="12510711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Garantizar que 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funcionalidades existentes no se vean afectadas por actualizaciones.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Minimizar la aparición de bugs recu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o “efectos colat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rales”.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ucir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rie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sgos en 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ega, permitiendo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mejorar la velocidad y calidad del software.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1189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Regresión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076975" y="2994339"/>
            <a:ext cx="8134051" cy="5422701"/>
          </a:xfrm>
          <a:custGeom>
            <a:avLst/>
            <a:gdLst/>
            <a:ahLst/>
            <a:cxnLst/>
            <a:rect r="r" b="b" t="t" l="l"/>
            <a:pathLst>
              <a:path h="5422701" w="8134051">
                <a:moveTo>
                  <a:pt x="0" y="0"/>
                </a:moveTo>
                <a:lnTo>
                  <a:pt x="8134050" y="0"/>
                </a:lnTo>
                <a:lnTo>
                  <a:pt x="8134050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1189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Regresión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Tecnicas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78420"/>
            <a:ext cx="91189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Regresión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Mejores prácticas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4274" y="2987046"/>
            <a:ext cx="11959452" cy="52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Diseñar suites modulares, fáciles de actualizar y mantener.</a:t>
            </a:r>
          </a:p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Priorizar la automatización de casos críticos y repetitivos.</a:t>
            </a:r>
          </a:p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Integrar la ejecución de regresión en la pipeline de integración continua (CI/CD).</a:t>
            </a:r>
          </a:p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Revisar y actualizar constantemente los casos de regresión.</a:t>
            </a:r>
          </a:p>
          <a:p>
            <a:pPr algn="l" marL="712468" indent="-356234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Evaluar métricas para identificar redundancias o coberturas insuficientes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52846"/>
            <a:ext cx="12510711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 evaluaciones realizadas para determinar cuán fácil, agradable e intuitivo es para los usuarios interactuar con el software.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enfocan en la experiencia del usuario (UX), midiendo aspectos como facil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dad 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ndizaje,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fici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cción.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Involuc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 la ob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ción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rios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ípic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apl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cación.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Usabilidad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43321"/>
            <a:ext cx="12384296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Garantizar que los usuarios pueden completar sus objetivos principales de forma rápida e intuitiva.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Identificar obstáculos, confusiones o elementos que dificultan la experienc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 tasas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tenció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pe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pción de v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nid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faz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lo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uj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in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racció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403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Usabilidad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02444" y="3020616"/>
            <a:ext cx="9064062" cy="5370147"/>
          </a:xfrm>
          <a:custGeom>
            <a:avLst/>
            <a:gdLst/>
            <a:ahLst/>
            <a:cxnLst/>
            <a:rect r="r" b="b" t="t" l="l"/>
            <a:pathLst>
              <a:path h="5370147" w="9064062">
                <a:moveTo>
                  <a:pt x="0" y="0"/>
                </a:moveTo>
                <a:lnTo>
                  <a:pt x="9064062" y="0"/>
                </a:lnTo>
                <a:lnTo>
                  <a:pt x="9064062" y="5370147"/>
                </a:lnTo>
                <a:lnTo>
                  <a:pt x="0" y="5370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403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Usabilidad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Métodos y métricas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52846"/>
            <a:ext cx="12510711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enfocan en comprobar si el producto cumple con los requisitos y expectativas del cliente o usuario final.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Constituyen el “filtro final”, validando que el software es apto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ntor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real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 adopción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cción.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Implic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rticipació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o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ndirecta 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 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defini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ción 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aceptación y, 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veces,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ejecuc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Validación o Aceptación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52846"/>
            <a:ext cx="12510711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 de aceptación por el usuario (UAT):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reales testean funcionalidades críticas en condiciones reales.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 de aceptación del sistema: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Valida que el 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cum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re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isitos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funcionale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 de aceptación operativa: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 simu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cenarios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producc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asegu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 op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rabi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mient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oporte.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4603" y="1697226"/>
            <a:ext cx="93797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ipos principales de pruebas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763944"/>
            <a:ext cx="12510711" cy="667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realizan tras finalizar las pruebas de verificación.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Comienzan cuando el 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istema está completamente integrado y funcional.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enfocan en evaluar el producto desde la perspectiva del usuario final.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Buscan responder: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“¿Estamos construyendo el producto correcto?”</a:t>
            </a:r>
          </a:p>
          <a:p>
            <a:pPr algn="l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Ej: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Después de completar las pruebas unitarias e integración de un sistema de ventas, se ejecutan pruebas de validación para confirmar que las funciones de compra, pago y reportes cumplen los requisitos del cliente.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87690" y="1697226"/>
            <a:ext cx="68935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¿Cuánd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comienzan?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763944"/>
            <a:ext cx="12510711" cy="51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Carac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terísticas: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ejecutan en el entorno del desarrollador.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cipan tester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ern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cc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nad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dentro de la empresa.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Permiten detectar errores antes del lanzamiento público.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simulan condiciones reales de uso.</a:t>
            </a:r>
          </a:p>
          <a:p>
            <a:pPr algn="l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Ej: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Una empresa de videojuegos prueba internamente su nuevo título con empleados voluntarios para corregir errores antes de liberar la demo pública.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50956" y="1697226"/>
            <a:ext cx="41670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Alfa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763944"/>
            <a:ext cx="12510711" cy="564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Carac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terísticas: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ealizan en el entorno real del usuario.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cipan u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ext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ern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o finales.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Permiten recopilar opiniones reales sobre rendimiento, usabilidad y errores.</a:t>
            </a:r>
          </a:p>
          <a:p>
            <a:pPr algn="l" marL="1252224" indent="-417408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Sirven para ajustar la versión final del producto.</a:t>
            </a:r>
          </a:p>
          <a:p>
            <a:pPr algn="ctr">
              <a:lnSpc>
                <a:spcPts val="4060"/>
              </a:lnSpc>
            </a:pPr>
          </a:p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Una aplicación móvil lanza una versión beta en Google Play para que los usuarios reporten fallos y sugieran mejoras antes del lanzamiento oficial.</a:t>
            </a:r>
          </a:p>
          <a:p>
            <a:pPr algn="ctr">
              <a:lnSpc>
                <a:spcPts val="40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7148" y="1697226"/>
            <a:ext cx="43746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Beta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493371" y="2738179"/>
            <a:ext cx="11301259" cy="5876655"/>
          </a:xfrm>
          <a:custGeom>
            <a:avLst/>
            <a:gdLst/>
            <a:ahLst/>
            <a:cxnLst/>
            <a:rect r="r" b="b" t="t" l="l"/>
            <a:pathLst>
              <a:path h="5876655" w="11301259">
                <a:moveTo>
                  <a:pt x="0" y="0"/>
                </a:moveTo>
                <a:lnTo>
                  <a:pt x="11301258" y="0"/>
                </a:lnTo>
                <a:lnTo>
                  <a:pt x="11301258" y="5876654"/>
                </a:lnTo>
                <a:lnTo>
                  <a:pt x="0" y="587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66915" y="1697226"/>
            <a:ext cx="953512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Aspectos pruebas Alfa y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Beta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512694" y="3003421"/>
            <a:ext cx="7262612" cy="5574546"/>
          </a:xfrm>
          <a:custGeom>
            <a:avLst/>
            <a:gdLst/>
            <a:ahLst/>
            <a:cxnLst/>
            <a:rect r="r" b="b" t="t" l="l"/>
            <a:pathLst>
              <a:path h="5574546" w="7262612">
                <a:moveTo>
                  <a:pt x="0" y="0"/>
                </a:moveTo>
                <a:lnTo>
                  <a:pt x="7262612" y="0"/>
                </a:lnTo>
                <a:lnTo>
                  <a:pt x="7262612" y="5574545"/>
                </a:lnTo>
                <a:lnTo>
                  <a:pt x="0" y="557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136383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Validación o Aceptación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3788" y="1697226"/>
            <a:ext cx="76613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riterios de Aceptación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52846"/>
            <a:ext cx="12510711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 pruebas que validan el comportamiento del software como un todo integrado, comprobando todos sus componentes, interfaces y flujos de trabajo.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Permiten detectar errores que solo emergen cuando los distintos módulos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actúan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ajo co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diciones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reale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func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tegrac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ón,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rendimient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bilida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67487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Sistemas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43321"/>
            <a:ext cx="12510711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Garantizar que todos los módulos y componentes colaboran sin errores ni conflictos.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Evaluar el desempeño bajo cargas reales o extremas.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Comprobar la robustez, estabilidad y seguridad del 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menaz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allos im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previst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lidar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tegrac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ón con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externos, bases de dat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APIs.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Sistemas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956086" y="3008730"/>
            <a:ext cx="8356777" cy="5393920"/>
          </a:xfrm>
          <a:custGeom>
            <a:avLst/>
            <a:gdLst/>
            <a:ahLst/>
            <a:cxnLst/>
            <a:rect r="r" b="b" t="t" l="l"/>
            <a:pathLst>
              <a:path h="5393920" w="8356777">
                <a:moveTo>
                  <a:pt x="0" y="0"/>
                </a:moveTo>
                <a:lnTo>
                  <a:pt x="8356778" y="0"/>
                </a:lnTo>
                <a:lnTo>
                  <a:pt x="8356778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Tipos y enfoques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Pruebas De Sistemas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3243321"/>
            <a:ext cx="12510711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Preguntas...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¿Estamos encontrando los defectos más críticos?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¿Cuánto falta por probar realmente?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¿Qué tan confiables son nuestros resultados de pru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eb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a?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¿El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sfuerz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probar está dand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re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sultado?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¿Podemos mejorar sin medir?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623701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Mediciones de Pruebas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349829"/>
            <a:ext cx="1251071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Permiten resp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 p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clav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como: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¿Qué tan grande es realmente el esfuerzo necesario para probar un producto?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¿Qué tan efectivas fueron las actividades de verificación y validación?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¿Cómo fue la calidad del software:</a:t>
            </a:r>
          </a:p>
          <a:p>
            <a:pPr algn="l" marL="1943105" indent="-485776" lvl="3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Durante las pruebas?</a:t>
            </a:r>
          </a:p>
          <a:p>
            <a:pPr algn="l" marL="1943105" indent="-485776" lvl="3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producción?</a:t>
            </a:r>
          </a:p>
          <a:p>
            <a:pPr algn="l" marL="1943105" indent="-485776" lvl="3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comparación con otros proyectos?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¿Cuántos defectos había antes de probar y cuántos quedaron luego en operación?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¿En qué momento es razonable detener el proceso de testing?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Mediciones de Pruebas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83229"/>
            <a:ext cx="12510711" cy="52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 una idea de la complejidad del programa, esto ayuda para planear una mejor prueba, a poder predecir cuantos errores existen y en que lugar pueden ocurrir.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Analizar el número y tipo de defectos encontrados da una visión clara de: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eficacia del proceso de verificación.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debilidades del desarrollo que deben corregirse.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edir defectos </a:t>
            </a:r>
            <a:r>
              <a:rPr lang="en-US" b="true" sz="3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solo evalúa el producto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sino también la </a:t>
            </a:r>
            <a:r>
              <a:rPr lang="en-US" b="true" sz="3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 del proceso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lo generó.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Mediciones de Pruebas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Medición y planificación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83229"/>
            <a:ext cx="12510711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mediciones de pruebas permiten evaluar de forma cua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ntitativa el progreso, la efectividad y el alcance del proceso de testing.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Ayudan a determinar cuándo detener las pruebas y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calidad del pro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Medición y planificación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Mediciones de Pruebas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83229"/>
            <a:ext cx="12510711" cy="57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Indican el nivel de calidad alcanzado por el software.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Proveen criterios de preparació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para la entrega (release readiness).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correlacionan con la satisfacción del usuario final.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Actúan como predictores de errores restantes.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estar normalizadas, permiten comparar resultados entre proyectos.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Ofrecen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visión de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eficien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cia del proceso de prueba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Mediciones Producen respuestas, y se debe priorizar tomando como base que es lo critico y que será utilizado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Qué aportan las mediciones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Mediciones de Pruebas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Complejidad: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mide la dificultad o tamaño del software a probar.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Eficiencia de verificació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evalúa la relación entre errores detectados y esfuerzo aplicado.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Cobertura d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pruebas: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indica qué porcentaje del código o requisitos fue probado.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Ejecución de pruebas: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muestra el progreso y estado actual de las pruebas.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ectos o incidentes: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cuantifica los errores encontrados y su tipo.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ricas basadas en incidentes: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permiten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analizar tenden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cias y mejorar procesos futuros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Tipos de mediciones útiles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 - Mediciones de Pruebas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Facilitan el testing, y por tanto mas efectivo y productivo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 objetivo es reducir esfuerzo manual, mejorar la precisión y aumentar la cobertura de las pruebas.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herramientas de testing pueden clasificarse según la actividad en la que se usan, la función que cumplen o el área del proceso que apoyan.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revisiones e inspecciones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detectar defectos tempranos en documentos, código o diseño antes de ejecutar pruebas.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típico: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revisión de código, análisis estático, verificación de estándares o buenas prácticas.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SonarQube → analiza el código fuente para encontrar errores, vulnerabilidades y problemas de estilo.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CodeClimate o Pylint también detectan defectos sin necesidad de ejecutar el programa.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la planificación de pruebas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ayudar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definir estrategias, planes y cron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gramas de pruebas, así como a organizar los recursos y casos de prueba.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típico: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gestión de planes de prueba, control de avance, asignación de tareas y generación de reportes.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TestLink → permite crear planes, casos de prueba y registrar resultados.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Zephyr o Xray (Jira) → integran la planificación de pruebas dentro de la gestión ágil del proyecto.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diseño y desarrollo de pruebas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apoyar 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creación y mantenimiento de 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asos de prueba, tanto manuales como automatizados.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típico: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definir entradas, salidas esperadas y scripts automatizados.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Selenium → automatiza pruebas funcionales de aplicaciones web.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JUnit (Java) o PyTest (Python) → permiten crear y ejecutar pruebas unitarias.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diseño ejecución de pruebas y evaluación de resultados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automatizar 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ejecución, recopilar resultados y evaluar el comportamiento del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software bajo distintas condiciones.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típico: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ejecución masiva de pruebas, simulación de usuarios, medición de rendimiento o carga.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JMeter → mide el rendimiento y carga de aplicaciones.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Postman → ejecuta pruebas de API y valida respuestas automáticas.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soporte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complementar el proceso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testing con funciones auxiliares, como gestión de 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fectos, comunicación o seguimiento.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típico: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registrar y dar seguimiento a errores, priorizar fallos, generar reportes o gestionar versiones.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Jira o Bugzilla → registran, asignan y hacen seguimiento a defectos.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Jenkins → apoyan la integración continua y control de versiones.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47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60970" y="8919633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260970" y="1357959"/>
            <a:ext cx="137660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260970" y="1357959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07980" y="1362663"/>
            <a:ext cx="0" cy="7561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9120" y="2892754"/>
            <a:ext cx="1251071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Cuando se deja de realizar el testing?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 agotarse los recursos.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la practica nunca termina, solo cambia de tester.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Idealmente, utilizar modelos de fallas de software como función del tiempo de ejecución, basado en modelación estadística y teorías de confiabilidad para realizar afirmaciones como la sgte.:</a:t>
            </a:r>
          </a:p>
          <a:p>
            <a:pPr algn="l" marL="1943105" indent="-485776" lvl="3">
              <a:lnSpc>
                <a:spcPts val="4200"/>
              </a:lnSpc>
              <a:buFont typeface="Arial"/>
              <a:buChar char="￭"/>
            </a:pPr>
            <a:r>
              <a:rPr lang="en-US" sz="30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hemos hecho suficiente testing para afirmar con un 95% de confianza que la prob. de 1000 horas de GPU de operación libre de fallas en un ambiente probabilísticamente definido es por lo menos 0.995...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1546" y="9486900"/>
            <a:ext cx="95049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II - Ingeniería en Computación - Universidad de La Serena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4749" y="1519884"/>
            <a:ext cx="119594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Criterios de Termino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420"/>
            <a:ext cx="92296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DAG0G0x4jP8</dc:identifier>
  <dcterms:modified xsi:type="dcterms:W3CDTF">2011-08-01T06:04:30Z</dcterms:modified>
  <cp:revision>1</cp:revision>
  <dc:title>pRUEBAS DE SOFTWARE</dc:title>
</cp:coreProperties>
</file>